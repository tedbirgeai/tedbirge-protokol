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F766E"/>
                </a:solidFill>
                <a:latin typeface="Calibri"/>
              </a:rPr>
              <a:t>TEDBİRGE GATEWAY · STRATEJİ OFİSİ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Bütünsel Nihai Fizibilite ve Strateji Raporu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20624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C5CFD4"/>
                </a:solidFill>
                <a:latin typeface="Calibri"/>
              </a:rPr>
              <a:t>PHY-agnostik, off-grid, zero-knowledge mesh ağ geçidi — finansal, ticari, operasyonel, teknik, hukuki ve ESG boyutlarıyla bütünsel değerlendirme.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8C989E"/>
                </a:solidFill>
                <a:latin typeface="Calibri"/>
              </a:rPr>
              <a:t>Mehmet DİNÇ (Tedbirge Gateway) · Sürüm 1.0 · 30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14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766E"/>
                </a:solidFill>
                <a:latin typeface="Georgia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Yönetici Özeti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11418"/>
                </a:solidFill>
                <a:latin typeface="Calibri"/>
              </a:rPr>
              <a:t>Tedbirge Gateway; LoRa, Wi-Fi HaLow, TVWS, WiGig, FSO, BLE, uydu ve tarayıcı P2P taşıyıcılarını tek yönetim düzleminde birleştiren, donanım üretmeyen, uçtan uca şifreli bir mesh ağ geçidi yazılımıdır.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97480"/>
            <a:ext cx="2419273" cy="14173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19620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766E"/>
                </a:solidFill>
                <a:latin typeface="Georgia"/>
              </a:rPr>
              <a:t>≈ %94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96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680"/>
                </a:solidFill>
                <a:latin typeface="Calibri"/>
              </a:rPr>
              <a:t>Brüt marj (Pro planı)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697480"/>
            <a:ext cx="2419273" cy="14173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45153" y="2880360"/>
            <a:ext cx="19620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766E"/>
                </a:solidFill>
                <a:latin typeface="Georgia"/>
              </a:rPr>
              <a:t>≈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5153" y="3566160"/>
            <a:ext cx="196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680"/>
                </a:solidFill>
                <a:latin typeface="Calibri"/>
              </a:rPr>
              <a:t>Başabaş için Pro abone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697480"/>
            <a:ext cx="2419273" cy="14173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84467" y="2880360"/>
            <a:ext cx="19620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766E"/>
                </a:solidFill>
                <a:latin typeface="Georgia"/>
              </a:rPr>
              <a:t>~700 €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467" y="3566160"/>
            <a:ext cx="196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680"/>
                </a:solidFill>
                <a:latin typeface="Calibri"/>
              </a:rPr>
              <a:t>Aylık sabit gider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5181" y="2697480"/>
            <a:ext cx="2419273" cy="14173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23781" y="2880360"/>
            <a:ext cx="19620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766E"/>
                </a:solidFill>
                <a:latin typeface="Georgia"/>
              </a:rPr>
              <a:t>26 €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3781" y="3566160"/>
            <a:ext cx="196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680"/>
                </a:solidFill>
                <a:latin typeface="Calibri"/>
              </a:rPr>
              <a:t>ARPA / 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106070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Ürün durumu:</a:t>
            </a:r>
            <a:r>
              <a:rPr sz="1500">
                <a:solidFill>
                  <a:srgbClr val="111418"/>
                </a:solidFill>
                <a:latin typeface="Calibri"/>
              </a:rPr>
              <a:t> Teknik olarak çalışır; yasal çerçeve tanımlı.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Tek yapısal engel:</a:t>
            </a:r>
            <a:r>
              <a:rPr sz="1500">
                <a:solidFill>
                  <a:srgbClr val="111418"/>
                </a:solidFill>
                <a:latin typeface="Calibri"/>
              </a:rPr>
              <a:t> Tahsilat akışının canlıya alınmamış olması.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En yüksek teknik borç:</a:t>
            </a:r>
            <a:r>
              <a:rPr sz="1500">
                <a:solidFill>
                  <a:srgbClr val="111418"/>
                </a:solidFill>
                <a:latin typeface="Calibri"/>
              </a:rPr>
              <a:t> Tam ölçekli yük testleri henüz koşulmadı.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910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B7680"/>
                </a:solidFill>
                <a:latin typeface="Calibri"/>
              </a:rPr>
              <a:t>Karar: tahsilat + alan adı + yük testi ilk çeyrekte kapatılmalı.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14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766E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Finansal Fizibilite ve Birim Ekonomi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00200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376"/>
                <a:gridCol w="1975104"/>
                <a:gridCol w="16459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Kota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Aylık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5 düğüm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0 €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6–24 düğüm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29 €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25+ düğüm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Teklif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600200"/>
          <a:ext cx="47091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Metrik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Değer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490–810 €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CAC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60–140 €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LTV/CAC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3,5 – 8,0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7947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766E"/>
                </a:solidFill>
                <a:latin typeface="Georgia"/>
              </a:rPr>
              <a:t>12. ay senaryoları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297680"/>
            <a:ext cx="3332378" cy="137160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766E"/>
                </a:solidFill>
                <a:latin typeface="Georgia"/>
              </a:rPr>
              <a:t>~1.100 €/ay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66360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680"/>
                </a:solidFill>
                <a:latin typeface="Calibri"/>
              </a:rPr>
              <a:t>Muhafazakâr — 15 Pro + 1 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658" y="4297680"/>
            <a:ext cx="3332378" cy="137160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58258" y="448056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766E"/>
                </a:solidFill>
                <a:latin typeface="Georgia"/>
              </a:rPr>
              <a:t>~3.500 €/ay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5166360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680"/>
                </a:solidFill>
                <a:latin typeface="Calibri"/>
              </a:rPr>
              <a:t>Baz — 40 Pro + 3 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2076" y="4297680"/>
            <a:ext cx="3332378" cy="137160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10676" y="448056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766E"/>
                </a:solidFill>
                <a:latin typeface="Georgia"/>
              </a:rPr>
              <a:t>~9.000 €/ay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0676" y="5166360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680"/>
                </a:solidFill>
                <a:latin typeface="Calibri"/>
              </a:rPr>
              <a:t>İyimser — 90 Pro + 8 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910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B7680"/>
                </a:solidFill>
                <a:latin typeface="Calibri"/>
              </a:rPr>
              <a:t>Değişken maliyet 0,4–1,2 €/kullanıcı/ay — asset-light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14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766E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Pazar Fizibilitesi ve GTM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332378" cy="14173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766E"/>
                </a:solidFill>
                <a:latin typeface="Georgia"/>
              </a:rPr>
              <a:t>1,5–3 mlr 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680"/>
                </a:solidFill>
                <a:latin typeface="Calibri"/>
              </a:rPr>
              <a:t>TAM — küresel yazılım katmanı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658" y="1645920"/>
            <a:ext cx="3332378" cy="14173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58258" y="182880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766E"/>
                </a:solidFill>
                <a:latin typeface="Georgia"/>
              </a:rPr>
              <a:t>120–250 mn 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8258" y="2514600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680"/>
                </a:solidFill>
                <a:latin typeface="Calibri"/>
              </a:rPr>
              <a:t>SAM — hizmet verilebilir bölgeler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2076" y="1645920"/>
            <a:ext cx="3332378" cy="141732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10676" y="182880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766E"/>
                </a:solidFill>
                <a:latin typeface="Georgia"/>
              </a:rPr>
              <a:t>1,5–4 mn 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0676" y="2514600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680"/>
                </a:solidFill>
                <a:latin typeface="Calibri"/>
              </a:rPr>
              <a:t>SOM — 3 yıllık ulaşılabilir 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766E"/>
                </a:solidFill>
                <a:latin typeface="Georgia"/>
              </a:rPr>
              <a:t>Dört ayrışma noktası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06070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Donanım bağımsızlığı:</a:t>
            </a:r>
            <a:r>
              <a:rPr sz="1500">
                <a:solidFill>
                  <a:srgbClr val="111418"/>
                </a:solidFill>
                <a:latin typeface="Calibri"/>
              </a:rPr>
              <a:t> HCL üzerinden doğrulanmış modüllerle çalışır.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Zero-knowledge:</a:t>
            </a:r>
            <a:r>
              <a:rPr sz="1500">
                <a:solidFill>
                  <a:srgbClr val="111418"/>
                </a:solidFill>
                <a:latin typeface="Calibri"/>
              </a:rPr>
              <a:t> İçerik sunucuda çözülmez (ECDH P-256 + AES-256-GCM).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Donanımsız başlangıç:</a:t>
            </a:r>
            <a:r>
              <a:rPr sz="1500">
                <a:solidFill>
                  <a:srgbClr val="111418"/>
                </a:solidFill>
                <a:latin typeface="Calibri"/>
              </a:rPr>
              <a:t> Tarayıcı düğümüyle 3 dakikada kanıtlanabilir demo.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Yerleşik yasal kalkan:</a:t>
            </a:r>
            <a:r>
              <a:rPr sz="1500">
                <a:solidFill>
                  <a:srgbClr val="111418"/>
                </a:solidFill>
                <a:latin typeface="Calibri"/>
              </a:rPr>
              <a:t> 5651 toplu kullanım portalı ve spektrum profilleri.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B7680"/>
                </a:solidFill>
                <a:latin typeface="Calibri"/>
              </a:rPr>
              <a:t>Konum: telekom rakibi değil, taşıyıcı-agnostik üst katman.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14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766E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Kanallar ve Bölgesel Yayılım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00200"/>
          <a:ext cx="106070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4956"/>
                <a:gridCol w="1697126"/>
                <a:gridCol w="4454956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Kanal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Öncelik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Yaklaşım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Doğrudan kurumsal (afet, kamu, enerji)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Yüksek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Pilot → vaka → çerçeve sözleşme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Entegratör / bayi ağı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Yüksek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Marj paylaşımı, white-label panel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Ürün-öncülüklü büyüme (Community)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Orta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Ücretsiz katman → Pro yükseltme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STK ve insani yardım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Orta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İndirimli lisans, yüksek referans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1148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766E"/>
                </a:solidFill>
                <a:latin typeface="Georgia"/>
              </a:rPr>
              <a:t>Yayılım sırası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Faz 1 (0–6 ay):</a:t>
            </a:r>
            <a:r>
              <a:rPr sz="1500">
                <a:solidFill>
                  <a:srgbClr val="111418"/>
                </a:solidFill>
                <a:latin typeface="Calibri"/>
              </a:rPr>
              <a:t> Türkiye — Sakarya pilotu, BTK spektrum profili.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Faz 2 (6–18 ay):</a:t>
            </a:r>
            <a:r>
              <a:rPr sz="1500">
                <a:solidFill>
                  <a:srgbClr val="111418"/>
                </a:solidFill>
                <a:latin typeface="Calibri"/>
              </a:rPr>
              <a:t> AB / EFTA — CE-RED dosyası, EN 300 220, İngilizce arayüz.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Faz 3 (18–36 ay):</a:t>
            </a:r>
            <a:r>
              <a:rPr sz="1500">
                <a:solidFill>
                  <a:srgbClr val="111418"/>
                </a:solidFill>
                <a:latin typeface="Calibri"/>
              </a:rPr>
              <a:t> MEA ve Orta Asya — afet ve enerji sahası odaklı.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14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766E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Operasyonel Model ve SLA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00200"/>
          <a:ext cx="106070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126"/>
                <a:gridCol w="3182112"/>
                <a:gridCol w="2757830"/>
                <a:gridCol w="2969971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Yanıt süresi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Kanal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Çalışma süresi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Topluluk / dokümantasyon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Forum, rehberler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Taahhüt yok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İş günü içinde 24 saat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E-posta, panel talebi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%99,0 kontrol düzlemi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4 saat (kritik) / 12 saat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Öncelikli hat + panel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%99,5 kontrol düzlemi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56616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418"/>
                </a:solidFill>
                <a:latin typeface="Calibri"/>
              </a:rPr>
              <a:t>Veri düzlemi (mesh trafiği) müşteri sahasında çalışır ve bulut kesintisinden etkilenmez; SLA yalnızca kontrol düzlemi için verilir — bu taahhüdü dürüst ve savunulabilir tutar.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766E"/>
                </a:solidFill>
                <a:latin typeface="Georgia"/>
              </a:rPr>
              <a:t>Operasyonel kapasite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4983480"/>
          <a:ext cx="1060703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333548"/>
                <a:gridCol w="6152083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Aşama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Aktif hesap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Gerekli kapasite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0–6 ay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&lt; 25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Kurucu tek kişi + otomasyon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6–18 ay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25–120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+1 destek/saha mühendisi (yarı zamanlı)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14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766E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Teknik Performans Zarfı ve Yük Testi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00200"/>
          <a:ext cx="106070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1591056"/>
                <a:gridCol w="1803196"/>
                <a:gridCol w="2969971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Taşıyıcı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Tipik hız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Gecikme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Menzil (LOS)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Kullanım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LoRa (SX1262)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0,3–37,5 kbps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0,5–3 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2–15 km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Telemetri, kısa mesaj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Wi-Fi HaLow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150 kbps–15 Mbps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20–80 ms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0,5–3 km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Sensör + hafif veri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TVWS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1–20 Mbps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30–90 ms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3–10 km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Kırsal omurga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WiGig 60 GHz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0,5–2 Gbps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&lt; 5 ms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200–800 m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Nokta-nokta omurga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FSO lazer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0,1–10 Gbps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&lt; 2 ms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0,5–3 km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Yüksek kapasite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3434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766E"/>
                </a:solidFill>
                <a:latin typeface="Georgia"/>
              </a:rPr>
              <a:t>Açık yük testi borcu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106070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Telemetri yükü:</a:t>
            </a:r>
            <a:r>
              <a:rPr sz="1500">
                <a:solidFill>
                  <a:srgbClr val="111418"/>
                </a:solidFill>
                <a:latin typeface="Calibri"/>
              </a:rPr>
              <a:t> 500 sanal düğüm → p95 yazma &lt; 400 ms, kayıp %0.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— Failover:</a:t>
            </a:r>
            <a:r>
              <a:rPr sz="1500">
                <a:solidFill>
                  <a:srgbClr val="111418"/>
                </a:solidFill>
                <a:latin typeface="Calibri"/>
              </a:rPr>
              <a:t> Birincil gateway kapatma → &lt; 30 sn'de yedeğe geçiş.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B7680"/>
                </a:solidFill>
                <a:latin typeface="Calibri"/>
              </a:rPr>
              <a:t>Bu değerler taşıyıcının fiziksel sınırlarıdır; Tedbirge katmanı yönetir, artırmaz.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14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766E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Risk Yönetimi ve İş Sürekliliği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00200"/>
          <a:ext cx="1060703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393"/>
                <a:gridCol w="1484985"/>
                <a:gridCol w="1272844"/>
                <a:gridCol w="4242816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Olasılık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Etki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Azaltım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Tek kurucu bağımlılığı (bus factor 1)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Yüksek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Yüksek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Devir planı, yedek geliştirici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Spektrum mevzuatı değişikliği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Orta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Yüksek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Tek kaynak bölge profili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İzinsiz firmware yüklemesi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Orta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Yüksek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Sözleşmesel sorumluluk sınırı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Ödeme sağlayıcı onay gecikmesi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Orta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Orta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Alternatif tahsilat, manuel fatura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Veri ihlali iddiası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Düşük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Yüksek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418"/>
                          </a:solidFill>
                          <a:latin typeface="Calibri"/>
                        </a:rPr>
                        <a:t>Zero-knowledge, olay müdahale planı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5720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766E"/>
                </a:solidFill>
                <a:latin typeface="Georgia"/>
              </a:rPr>
              <a:t>İş sürekliliği esasları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11418"/>
                </a:solidFill>
                <a:latin typeface="Calibri"/>
              </a:rPr>
              <a:t>— Yeniden kurulum hedefi &lt; 4 saat; günlük yedek, çeyreklik geri yükleme tatbikatı.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418"/>
                </a:solidFill>
                <a:latin typeface="Calibri"/>
              </a:rPr>
              <a:t>— Olay müdahale: tespit → sınıflandırma → müşteri bildirimi (72 saat) → kök neden.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14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766E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Sakarya Pilotu ve Sertifikasyon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766E"/>
                </a:solidFill>
                <a:latin typeface="Georgia"/>
              </a:rPr>
              <a:t>Pilot KPI seti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057400"/>
          <a:ext cx="51206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9971"/>
                <a:gridCol w="215066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Hedef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Kurulum süresi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&lt; 10 dakika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Paket teslim oranı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&gt; %98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Kesinti kurtarma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&lt; 5 dakika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Failover süresi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&lt; 30 saniye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Operatör memnuniyeti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≥ 8 / 10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766E"/>
                </a:solidFill>
                <a:latin typeface="Georgia"/>
              </a:rPr>
              <a:t>Sertifikasyon yol haritası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2057400"/>
          <a:ext cx="51206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668"/>
                <a:gridCol w="296997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Bölge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Durum / hedef</a:t>
                      </a:r>
                    </a:p>
                  </a:txBody>
                  <a:tcPr marL="109728" marR="109728" marT="45720" marB="45720" anchor="ctr">
                    <a:solidFill>
                      <a:srgbClr val="141C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Türkiye (BTK, 5651)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Uyum hazır, portal aktif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AB / EFTA (RED)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Dosya hazırlığı 6–12 ay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ABD (FCC Part 15)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İzlenen — Faz 3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MEA / Orta Asya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Talep üzerine profil</a:t>
                      </a:r>
                    </a:p>
                  </a:txBody>
                  <a:tcPr marL="109728" marR="109728" marT="45720" marB="45720" anchor="ctr">
                    <a:solidFill>
                      <a:srgbClr val="F2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Modül sertifikaları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418"/>
                          </a:solidFill>
                          <a:latin typeface="Calibri"/>
                        </a:rPr>
                        <a:t>HCL üzerinden kayıtlı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029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418"/>
                </a:solidFill>
                <a:latin typeface="Calibri"/>
              </a:rPr>
              <a:t>Tedbirge kendi radyo donanımını üretmediği sürece sertifikasyon yükümlülüğü büyük ölçüde modül üreticisindedir; yazılım tarafı bölge profiliyle spektrum sınırlaması uygular.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Georgia"/>
              </a:rPr>
              <a:t>11 — Sonuç ve 12 Aylık Yol Haritası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777240"/>
          </a:xfrm>
          <a:prstGeom prst="roundRect">
            <a:avLst/>
          </a:prstGeom>
          <a:solidFill>
            <a:srgbClr val="1D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34440" y="2048256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766E"/>
                </a:solidFill>
                <a:latin typeface="Georgia"/>
              </a:rPr>
              <a:t>Ç1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066543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Tahsilat + alan adı + yük testi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08483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9C4C9"/>
                </a:solidFill>
                <a:latin typeface="Calibri"/>
              </a:rPr>
              <a:t>Ücretli ilk abone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10332720" cy="777240"/>
          </a:xfrm>
          <a:prstGeom prst="roundRect">
            <a:avLst/>
          </a:prstGeom>
          <a:solidFill>
            <a:srgbClr val="1D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34440" y="2962656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766E"/>
                </a:solidFill>
                <a:latin typeface="Georgia"/>
              </a:rPr>
              <a:t>Ç2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98094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Sakarya pilotu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99923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9C4C9"/>
                </a:solidFill>
                <a:latin typeface="Calibri"/>
              </a:rPr>
              <a:t>Vaka çalışması, doğrulanmış KPI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10332720" cy="777240"/>
          </a:xfrm>
          <a:prstGeom prst="roundRect">
            <a:avLst/>
          </a:prstGeom>
          <a:solidFill>
            <a:srgbClr val="1D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3877056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766E"/>
                </a:solidFill>
                <a:latin typeface="Georgia"/>
              </a:rPr>
              <a:t>Ç3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9534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Entegratör kanalı + AB dosyası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91363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9C4C9"/>
                </a:solidFill>
                <a:latin typeface="Calibri"/>
              </a:rPr>
              <a:t>İlk 2 bayi, CE iskeleti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10332720" cy="777240"/>
          </a:xfrm>
          <a:prstGeom prst="roundRect">
            <a:avLst/>
          </a:prstGeom>
          <a:solidFill>
            <a:srgbClr val="1D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34440" y="4791456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766E"/>
                </a:solidFill>
                <a:latin typeface="Georgia"/>
              </a:rPr>
              <a:t>Ç4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0974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Enterprise satış + ölçeklenme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82803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9C4C9"/>
                </a:solidFill>
                <a:latin typeface="Calibri"/>
              </a:rPr>
              <a:t>Başabaş üstü nakit akışı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C5CFD4"/>
                </a:solidFill>
                <a:latin typeface="Calibri"/>
              </a:rPr>
              <a:t>Tedbirge Gateway teknik ve ticari fizibilite eşiğini aşmıştır; önümüzdeki 12 ay tahsilat, pilot kanıtı ve operasyonel altyapı açısından belirleyicidir.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